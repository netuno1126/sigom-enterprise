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88"/>
  </p:notesMasterIdLst>
  <p:handoutMasterIdLst>
    <p:handoutMasterId r:id="rId89"/>
  </p:handoutMasterIdLst>
  <p:sldIdLst>
    <p:sldId id="291" r:id="rId2"/>
    <p:sldId id="7343" r:id="rId3"/>
    <p:sldId id="7300" r:id="rId6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830295595dc32f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200"/>
    <a:srgbClr val="007BB8"/>
    <a:srgbClr val="030D96"/>
    <a:srgbClr val="653D98"/>
    <a:srgbClr val="E4D5D8"/>
    <a:srgbClr val="19A719"/>
    <a:srgbClr val="1C8F22"/>
    <a:srgbClr val="960000"/>
    <a:srgbClr val="D9DEE3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2813" autoAdjust="0"/>
  </p:normalViewPr>
  <p:slideViewPr>
    <p:cSldViewPr snapToGrid="0">
      <p:cViewPr varScale="1">
        <p:scale>
          <a:sx n="106" d="100"/>
          <a:sy n="106" d="100"/>
        </p:scale>
        <p:origin x="6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88" Type="http://schemas.openxmlformats.org/officeDocument/2006/relationships/notesMaster" Target="notesMasters/notesMaster1.xml"/><Relationship Id="rId89" Type="http://schemas.openxmlformats.org/officeDocument/2006/relationships/handoutMaster" Target="handoutMasters/handout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99" cy="496888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49690" y="1"/>
            <a:ext cx="2946399" cy="496888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r">
              <a:defRPr sz="1200"/>
            </a:lvl1pPr>
          </a:lstStyle>
          <a:p>
            <a:fld id="{059D7FA7-82F3-4CC1-8422-3863BD9EFDDE}" type="datetime1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3" y="9429751"/>
            <a:ext cx="2946399" cy="496888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49690" y="9429751"/>
            <a:ext cx="2946399" cy="496888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r">
              <a:defRPr sz="1200"/>
            </a:lvl1pPr>
          </a:lstStyle>
          <a:p>
            <a:fld id="{04839B77-64CC-4096-8BFE-FDB8EAFD21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11065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6" y="3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r">
              <a:defRPr sz="1200"/>
            </a:lvl1pPr>
          </a:lstStyle>
          <a:p>
            <a:fld id="{54BD5C96-67C4-4819-B335-E0F7B953A7C0}" type="datetime1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2" rIns="91404" bIns="45702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9" y="4777198"/>
            <a:ext cx="5438140" cy="3908614"/>
          </a:xfrm>
          <a:prstGeom prst="rect">
            <a:avLst/>
          </a:prstGeom>
        </p:spPr>
        <p:txBody>
          <a:bodyPr vert="horz" lIns="91404" tIns="45702" rIns="91404" bIns="45702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3" y="9428586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6" y="9428586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r">
              <a:defRPr sz="1200"/>
            </a:lvl1pPr>
          </a:lstStyle>
          <a:p>
            <a:fld id="{5AC6EB50-C38D-4769-9406-D728C83133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39005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C6EB50-C38D-4769-9406-D728C831337D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2FCFF4A-9DE5-4FCC-ABAF-BC18F322B860}" type="datetime1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795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Contrato</a:t>
            </a:r>
            <a:r>
              <a:rPr dirty="0"/>
              <a:t>: 95/2023</a:t>
            </a:r>
          </a:p>
          <a:p>
            <a:r>
              <a:rPr lang="pt-BR" dirty="0" err="1"/>
              <a:t>Nr</a:t>
            </a:r>
            <a:r>
              <a:rPr lang="pt-BR" dirty="0"/>
              <a:t> OPUS</a:t>
            </a:r>
            <a:r>
              <a:rPr dirty="0"/>
              <a:t> 202001000446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385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1" y="533400"/>
            <a:ext cx="8739823" cy="3767670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61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17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037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648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764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971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943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211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528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844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876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325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 dirty="0"/>
              <a:t>20/09/2021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6469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 userDrawn="1"/>
        </p:nvSpPr>
        <p:spPr>
          <a:xfrm>
            <a:off x="1" y="312819"/>
            <a:ext cx="12192000" cy="540000"/>
          </a:xfrm>
          <a:prstGeom prst="rect">
            <a:avLst/>
          </a:prstGeom>
          <a:solidFill>
            <a:schemeClr val="tx1">
              <a:alpha val="8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3" name="Retângulo 12"/>
          <p:cNvSpPr/>
          <p:nvPr userDrawn="1"/>
        </p:nvSpPr>
        <p:spPr>
          <a:xfrm>
            <a:off x="0" y="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4" name="Retângulo 13"/>
          <p:cNvSpPr/>
          <p:nvPr userDrawn="1"/>
        </p:nvSpPr>
        <p:spPr>
          <a:xfrm>
            <a:off x="1" y="850226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0" name="Retângulo 19"/>
          <p:cNvSpPr/>
          <p:nvPr userDrawn="1"/>
        </p:nvSpPr>
        <p:spPr>
          <a:xfrm>
            <a:off x="0" y="135668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 userDrawn="1"/>
        </p:nvSpPr>
        <p:spPr>
          <a:xfrm>
            <a:off x="1" y="103471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6" name="CaixaDeTexto 25"/>
          <p:cNvSpPr txBox="1"/>
          <p:nvPr userDrawn="1"/>
        </p:nvSpPr>
        <p:spPr>
          <a:xfrm>
            <a:off x="-85559" y="809231"/>
            <a:ext cx="2951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dopartamento</a:t>
            </a:r>
            <a:r>
              <a:rPr lang="pt-BR" sz="10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 do Engenharia e Construção</a:t>
            </a:r>
          </a:p>
        </p:txBody>
      </p:sp>
      <p:pic>
        <p:nvPicPr>
          <p:cNvPr id="10" name="Imagem 9" descr="D E 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4659" y="356133"/>
            <a:ext cx="365152" cy="38283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" y="283659"/>
            <a:ext cx="588212" cy="513736"/>
          </a:xfrm>
          <a:prstGeom prst="rect">
            <a:avLst/>
          </a:prstGeom>
        </p:spPr>
      </p:pic>
      <p:sp>
        <p:nvSpPr>
          <p:cNvPr id="1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9725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823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37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 userDrawn="1"/>
        </p:nvSpPr>
        <p:spPr>
          <a:xfrm>
            <a:off x="1" y="312819"/>
            <a:ext cx="12192000" cy="540000"/>
          </a:xfrm>
          <a:prstGeom prst="rect">
            <a:avLst/>
          </a:prstGeom>
          <a:solidFill>
            <a:schemeClr val="tx1">
              <a:alpha val="8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3" name="Retângulo 12"/>
          <p:cNvSpPr/>
          <p:nvPr userDrawn="1"/>
        </p:nvSpPr>
        <p:spPr>
          <a:xfrm>
            <a:off x="0" y="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4" name="Retângulo 13"/>
          <p:cNvSpPr/>
          <p:nvPr userDrawn="1"/>
        </p:nvSpPr>
        <p:spPr>
          <a:xfrm>
            <a:off x="1" y="850226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0" name="Retângulo 19"/>
          <p:cNvSpPr/>
          <p:nvPr userDrawn="1"/>
        </p:nvSpPr>
        <p:spPr>
          <a:xfrm>
            <a:off x="0" y="135668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 userDrawn="1"/>
        </p:nvSpPr>
        <p:spPr>
          <a:xfrm>
            <a:off x="1" y="103471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6" name="CaixaDeTexto 25"/>
          <p:cNvSpPr txBox="1"/>
          <p:nvPr userDrawn="1"/>
        </p:nvSpPr>
        <p:spPr>
          <a:xfrm>
            <a:off x="-85559" y="809231"/>
            <a:ext cx="2951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dopartamento</a:t>
            </a:r>
            <a:r>
              <a:rPr lang="pt-BR" sz="10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 do Engenharia e Construção</a:t>
            </a:r>
          </a:p>
        </p:txBody>
      </p:sp>
      <p:pic>
        <p:nvPicPr>
          <p:cNvPr id="10" name="Imagem 9" descr="D E 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4659" y="356133"/>
            <a:ext cx="365152" cy="38283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" y="283659"/>
            <a:ext cx="588212" cy="513736"/>
          </a:xfrm>
          <a:prstGeom prst="rect">
            <a:avLst/>
          </a:prstGeom>
        </p:spPr>
      </p:pic>
      <p:sp>
        <p:nvSpPr>
          <p:cNvPr id="1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56994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7698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3329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452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924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1891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7612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56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4695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9687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0220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 userDrawn="1"/>
        </p:nvSpPr>
        <p:spPr>
          <a:xfrm>
            <a:off x="1" y="312819"/>
            <a:ext cx="12192000" cy="540000"/>
          </a:xfrm>
          <a:prstGeom prst="rect">
            <a:avLst/>
          </a:prstGeom>
          <a:solidFill>
            <a:schemeClr val="tx1">
              <a:alpha val="8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prstClr val="white"/>
              </a:solidFill>
            </a:endParaRPr>
          </a:p>
        </p:txBody>
      </p:sp>
      <p:sp>
        <p:nvSpPr>
          <p:cNvPr id="13" name="Retângulo 12"/>
          <p:cNvSpPr/>
          <p:nvPr userDrawn="1"/>
        </p:nvSpPr>
        <p:spPr>
          <a:xfrm>
            <a:off x="0" y="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prstClr val="white"/>
              </a:solidFill>
            </a:endParaRPr>
          </a:p>
        </p:txBody>
      </p:sp>
      <p:sp>
        <p:nvSpPr>
          <p:cNvPr id="14" name="Retângulo 13"/>
          <p:cNvSpPr/>
          <p:nvPr userDrawn="1"/>
        </p:nvSpPr>
        <p:spPr>
          <a:xfrm>
            <a:off x="1" y="850226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prstClr val="white"/>
              </a:solidFill>
            </a:endParaRPr>
          </a:p>
        </p:txBody>
      </p:sp>
      <p:sp>
        <p:nvSpPr>
          <p:cNvPr id="20" name="Retângulo 19"/>
          <p:cNvSpPr/>
          <p:nvPr userDrawn="1"/>
        </p:nvSpPr>
        <p:spPr>
          <a:xfrm>
            <a:off x="0" y="135668"/>
            <a:ext cx="12192000" cy="180000"/>
          </a:xfrm>
          <a:prstGeom prst="rect">
            <a:avLst/>
          </a:prstGeom>
          <a:solidFill>
            <a:srgbClr val="E0331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 userDrawn="1"/>
        </p:nvSpPr>
        <p:spPr>
          <a:xfrm>
            <a:off x="1" y="1034711"/>
            <a:ext cx="12192000" cy="128337"/>
          </a:xfrm>
          <a:prstGeom prst="rect">
            <a:avLst/>
          </a:prstGeom>
          <a:solidFill>
            <a:srgbClr val="00B0F0"/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prstClr val="white"/>
              </a:solidFill>
            </a:endParaRPr>
          </a:p>
        </p:txBody>
      </p:sp>
      <p:sp>
        <p:nvSpPr>
          <p:cNvPr id="26" name="CaixaDeTexto 25"/>
          <p:cNvSpPr txBox="1"/>
          <p:nvPr userDrawn="1"/>
        </p:nvSpPr>
        <p:spPr>
          <a:xfrm>
            <a:off x="-85559" y="809231"/>
            <a:ext cx="2951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dopartamento</a:t>
            </a:r>
            <a:r>
              <a:rPr lang="pt-BR" sz="10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</a:rPr>
              <a:t> do Engenharia e Construção</a:t>
            </a:r>
          </a:p>
        </p:txBody>
      </p:sp>
      <p:pic>
        <p:nvPicPr>
          <p:cNvPr id="10" name="Imagem 9" descr="D E 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4659" y="356133"/>
            <a:ext cx="365152" cy="38283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" y="283659"/>
            <a:ext cx="588212" cy="513736"/>
          </a:xfrm>
          <a:prstGeom prst="rect">
            <a:avLst/>
          </a:prstGeom>
        </p:spPr>
      </p:pic>
      <p:sp>
        <p:nvSpPr>
          <p:cNvPr id="1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21870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024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st level inter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958852" y="1232757"/>
            <a:ext cx="10623549" cy="468052"/>
          </a:xfrm>
          <a:prstGeom prst="rect">
            <a:avLst/>
          </a:prstGeom>
        </p:spPr>
        <p:txBody>
          <a:bodyPr rIns="0">
            <a:normAutofit/>
          </a:bodyPr>
          <a:lstStyle>
            <a:lvl1pPr marL="0" indent="0">
              <a:buNone/>
              <a:defRPr sz="2000" b="1" baseline="0">
                <a:solidFill>
                  <a:srgbClr val="3D0A6D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58851" y="1844676"/>
            <a:ext cx="10623549" cy="2448421"/>
          </a:xfrm>
          <a:prstGeom prst="rect">
            <a:avLst/>
          </a:prstGeom>
        </p:spPr>
        <p:txBody>
          <a:bodyPr/>
          <a:lstStyle>
            <a:lvl1pPr marL="2714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1pPr>
            <a:lvl2pPr marL="6270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2pPr>
            <a:lvl3pPr marL="982663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3pPr>
            <a:lvl4pPr marL="13462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4pPr>
            <a:lvl5pPr marL="1701800" indent="-271463">
              <a:buClr>
                <a:srgbClr val="3D0A6D"/>
              </a:buClr>
              <a:buSzPct val="60000"/>
              <a:buFont typeface="Arial" pitchFamily="34" charset="0"/>
              <a:buChar char="►"/>
              <a:defRPr sz="1800">
                <a:solidFill>
                  <a:srgbClr val="36424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BR"/>
              <a:t>20/09/2021</a:t>
            </a: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53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20/09/2021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D68B0-59DE-4F47-87EF-D7A98D480B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745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4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18" r:id="rId13"/>
    <p:sldLayoutId id="2147483719" r:id="rId14"/>
    <p:sldLayoutId id="2147483676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739" r:id="rId21"/>
    <p:sldLayoutId id="2147483740" r:id="rId22"/>
    <p:sldLayoutId id="2147483760" r:id="rId23"/>
    <p:sldLayoutId id="2147483761" r:id="rId24"/>
    <p:sldLayoutId id="2147483781" r:id="rId25"/>
    <p:sldLayoutId id="2147483782" r:id="rId26"/>
    <p:sldLayoutId id="2147483802" r:id="rId27"/>
    <p:sldLayoutId id="2147483803" r:id="rId28"/>
    <p:sldLayoutId id="2147483805" r:id="rId29"/>
    <p:sldLayoutId id="2147483823" r:id="rId30"/>
    <p:sldLayoutId id="2147483824" r:id="rId3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gif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-8021" y="56148"/>
            <a:ext cx="12200021" cy="10821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57150">
                <a:solidFill>
                  <a:prstClr val="white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B1364B69-20F5-6548-883F-0675B1C2D27B}"/>
              </a:ext>
            </a:extLst>
          </p:cNvPr>
          <p:cNvSpPr/>
          <p:nvPr/>
        </p:nvSpPr>
        <p:spPr>
          <a:xfrm>
            <a:off x="39432" y="121370"/>
            <a:ext cx="12159239" cy="946144"/>
          </a:xfrm>
          <a:prstGeom prst="rect">
            <a:avLst/>
          </a:prstGeom>
          <a:gradFill flip="none" rotWithShape="1">
            <a:gsLst>
              <a:gs pos="80000">
                <a:srgbClr val="8799B4"/>
              </a:gs>
              <a:gs pos="0">
                <a:schemeClr val="accent5">
                  <a:lumMod val="5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DIRETORIA DE OBRAS MILITARES</a:t>
            </a:r>
            <a:endParaRPr lang="en-US" sz="3600" b="1" dirty="0">
              <a:ln>
                <a:solidFill>
                  <a:srgbClr val="002060"/>
                </a:solidFill>
              </a:ln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2" y="1138260"/>
            <a:ext cx="12178658" cy="5818397"/>
          </a:xfrm>
          <a:prstGeom prst="rect">
            <a:avLst/>
          </a:prstGeom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1" y="176701"/>
            <a:ext cx="644260" cy="775296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522" y="2774544"/>
            <a:ext cx="1298758" cy="1562913"/>
          </a:xfrm>
          <a:prstGeom prst="rect">
            <a:avLst/>
          </a:prstGeom>
        </p:spPr>
      </p:pic>
      <p:pic>
        <p:nvPicPr>
          <p:cNvPr id="9" name="Picture 10" descr="Captura de Tela 2020-05-12 às 12.27.11.png">
            <a:extLst>
              <a:ext uri="{FF2B5EF4-FFF2-40B4-BE49-F238E27FC236}">
                <a16:creationId xmlns:a16="http://schemas.microsoft.com/office/drawing/2014/main" id="{719B7BDB-97B8-A04C-26C2-31BAD9791A5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 amt="7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165242"/>
            <a:ext cx="2519680" cy="5791415"/>
          </a:xfrm>
          <a:prstGeom prst="rect">
            <a:avLst/>
          </a:prstGeom>
        </p:spPr>
      </p:pic>
      <p:sp>
        <p:nvSpPr>
          <p:cNvPr id="7" name="CaixaDeTexto 9">
            <a:extLst>
              <a:ext uri="{FF2B5EF4-FFF2-40B4-BE49-F238E27FC236}">
                <a16:creationId xmlns:a16="http://schemas.microsoft.com/office/drawing/2014/main" id="{26DB3CBC-8C59-74EE-F6E0-631D36813BF8}"/>
              </a:ext>
            </a:extLst>
          </p:cNvPr>
          <p:cNvSpPr txBox="1"/>
          <p:nvPr/>
        </p:nvSpPr>
        <p:spPr>
          <a:xfrm>
            <a:off x="8345637" y="1263103"/>
            <a:ext cx="3364484" cy="1736646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FICHAS DE INTELIGÊNCIA DAS OBRAS (FIO) EM ANDAMENTO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2AF347-59C8-1EBF-CC24-D52DAD595BC5}"/>
              </a:ext>
            </a:extLst>
          </p:cNvPr>
          <p:cNvSpPr/>
          <p:nvPr/>
        </p:nvSpPr>
        <p:spPr>
          <a:xfrm>
            <a:off x="185824" y="2720506"/>
            <a:ext cx="2148034" cy="1957480"/>
          </a:xfrm>
          <a:custGeom>
            <a:avLst/>
            <a:gdLst/>
            <a:ahLst/>
            <a:cxnLst/>
            <a:rect l="l" t="t" r="r" b="b"/>
            <a:pathLst>
              <a:path w="8135620" h="8135620">
                <a:moveTo>
                  <a:pt x="4067574" y="8135159"/>
                </a:moveTo>
                <a:lnTo>
                  <a:pt x="4019004" y="8133473"/>
                </a:lnTo>
                <a:lnTo>
                  <a:pt x="3970617" y="8128414"/>
                </a:lnTo>
                <a:lnTo>
                  <a:pt x="3922606" y="8119983"/>
                </a:lnTo>
                <a:lnTo>
                  <a:pt x="3875161" y="8108180"/>
                </a:lnTo>
                <a:lnTo>
                  <a:pt x="3828474" y="8093004"/>
                </a:lnTo>
                <a:lnTo>
                  <a:pt x="3782736" y="8074456"/>
                </a:lnTo>
                <a:lnTo>
                  <a:pt x="3738141" y="8052536"/>
                </a:lnTo>
                <a:lnTo>
                  <a:pt x="3694878" y="8027243"/>
                </a:lnTo>
                <a:lnTo>
                  <a:pt x="3653140" y="7998578"/>
                </a:lnTo>
                <a:lnTo>
                  <a:pt x="3613118" y="7966540"/>
                </a:lnTo>
                <a:lnTo>
                  <a:pt x="3575004" y="7931131"/>
                </a:lnTo>
                <a:lnTo>
                  <a:pt x="204023" y="4560316"/>
                </a:lnTo>
                <a:lnTo>
                  <a:pt x="171435" y="4525454"/>
                </a:lnTo>
                <a:lnTo>
                  <a:pt x="141681" y="4488977"/>
                </a:lnTo>
                <a:lnTo>
                  <a:pt x="114761" y="4451031"/>
                </a:lnTo>
                <a:lnTo>
                  <a:pt x="90586" y="4411597"/>
                </a:lnTo>
                <a:lnTo>
                  <a:pt x="69347" y="4371154"/>
                </a:lnTo>
                <a:lnTo>
                  <a:pt x="50940" y="4329684"/>
                </a:lnTo>
                <a:lnTo>
                  <a:pt x="35367" y="4287332"/>
                </a:lnTo>
                <a:lnTo>
                  <a:pt x="22626" y="4244246"/>
                </a:lnTo>
                <a:lnTo>
                  <a:pt x="12719" y="4200572"/>
                </a:lnTo>
                <a:lnTo>
                  <a:pt x="5646" y="4156458"/>
                </a:lnTo>
                <a:lnTo>
                  <a:pt x="1406" y="4112050"/>
                </a:lnTo>
                <a:lnTo>
                  <a:pt x="0" y="4067495"/>
                </a:lnTo>
                <a:lnTo>
                  <a:pt x="1427" y="4022941"/>
                </a:lnTo>
                <a:lnTo>
                  <a:pt x="5688" y="3978533"/>
                </a:lnTo>
                <a:lnTo>
                  <a:pt x="12784" y="3934418"/>
                </a:lnTo>
                <a:lnTo>
                  <a:pt x="22713" y="3890745"/>
                </a:lnTo>
                <a:lnTo>
                  <a:pt x="35477" y="3847659"/>
                </a:lnTo>
                <a:lnTo>
                  <a:pt x="51076" y="3805307"/>
                </a:lnTo>
                <a:lnTo>
                  <a:pt x="69508" y="3763836"/>
                </a:lnTo>
                <a:lnTo>
                  <a:pt x="90674" y="3723561"/>
                </a:lnTo>
                <a:lnTo>
                  <a:pt x="114761" y="3684293"/>
                </a:lnTo>
                <a:lnTo>
                  <a:pt x="141681" y="3646347"/>
                </a:lnTo>
                <a:lnTo>
                  <a:pt x="171435" y="3609870"/>
                </a:lnTo>
                <a:lnTo>
                  <a:pt x="204023" y="3575008"/>
                </a:lnTo>
                <a:lnTo>
                  <a:pt x="3575004" y="204028"/>
                </a:lnTo>
                <a:lnTo>
                  <a:pt x="3613114" y="168618"/>
                </a:lnTo>
                <a:lnTo>
                  <a:pt x="3653126" y="136580"/>
                </a:lnTo>
                <a:lnTo>
                  <a:pt x="3694851" y="107915"/>
                </a:lnTo>
                <a:lnTo>
                  <a:pt x="3738099" y="82622"/>
                </a:lnTo>
                <a:lnTo>
                  <a:pt x="3782680" y="60702"/>
                </a:lnTo>
                <a:lnTo>
                  <a:pt x="3828406" y="42154"/>
                </a:lnTo>
                <a:lnTo>
                  <a:pt x="3875087" y="26978"/>
                </a:lnTo>
                <a:lnTo>
                  <a:pt x="3922534" y="15174"/>
                </a:lnTo>
                <a:lnTo>
                  <a:pt x="3970556" y="6744"/>
                </a:lnTo>
                <a:lnTo>
                  <a:pt x="4018966" y="1685"/>
                </a:lnTo>
                <a:lnTo>
                  <a:pt x="4067553" y="0"/>
                </a:lnTo>
                <a:lnTo>
                  <a:pt x="4116182" y="1685"/>
                </a:lnTo>
                <a:lnTo>
                  <a:pt x="4164592" y="6744"/>
                </a:lnTo>
                <a:lnTo>
                  <a:pt x="4212615" y="15174"/>
                </a:lnTo>
                <a:lnTo>
                  <a:pt x="4260061" y="26978"/>
                </a:lnTo>
                <a:lnTo>
                  <a:pt x="4306742" y="42154"/>
                </a:lnTo>
                <a:lnTo>
                  <a:pt x="4352468" y="60702"/>
                </a:lnTo>
                <a:lnTo>
                  <a:pt x="4397050" y="82622"/>
                </a:lnTo>
                <a:lnTo>
                  <a:pt x="4440297" y="107915"/>
                </a:lnTo>
                <a:lnTo>
                  <a:pt x="4482022" y="136580"/>
                </a:lnTo>
                <a:lnTo>
                  <a:pt x="4522034" y="168618"/>
                </a:lnTo>
                <a:lnTo>
                  <a:pt x="4560144" y="204028"/>
                </a:lnTo>
                <a:lnTo>
                  <a:pt x="7931126" y="3574842"/>
                </a:lnTo>
                <a:lnTo>
                  <a:pt x="7963714" y="3609703"/>
                </a:lnTo>
                <a:lnTo>
                  <a:pt x="7993468" y="3646180"/>
                </a:lnTo>
                <a:lnTo>
                  <a:pt x="8020388" y="3684126"/>
                </a:lnTo>
                <a:lnTo>
                  <a:pt x="8044562" y="3723561"/>
                </a:lnTo>
                <a:lnTo>
                  <a:pt x="8065802" y="3764003"/>
                </a:lnTo>
                <a:lnTo>
                  <a:pt x="8084208" y="3805474"/>
                </a:lnTo>
                <a:lnTo>
                  <a:pt x="8099782" y="3847825"/>
                </a:lnTo>
                <a:lnTo>
                  <a:pt x="8112522" y="3890912"/>
                </a:lnTo>
                <a:lnTo>
                  <a:pt x="8122429" y="3934585"/>
                </a:lnTo>
                <a:lnTo>
                  <a:pt x="8129503" y="3978699"/>
                </a:lnTo>
                <a:lnTo>
                  <a:pt x="8133743" y="4023107"/>
                </a:lnTo>
                <a:lnTo>
                  <a:pt x="8135149" y="4067662"/>
                </a:lnTo>
                <a:lnTo>
                  <a:pt x="8133721" y="4112217"/>
                </a:lnTo>
                <a:lnTo>
                  <a:pt x="8129460" y="4156625"/>
                </a:lnTo>
                <a:lnTo>
                  <a:pt x="8122365" y="4200739"/>
                </a:lnTo>
                <a:lnTo>
                  <a:pt x="8112435" y="4244413"/>
                </a:lnTo>
                <a:lnTo>
                  <a:pt x="8099671" y="4287499"/>
                </a:lnTo>
                <a:lnTo>
                  <a:pt x="8084073" y="4329851"/>
                </a:lnTo>
                <a:lnTo>
                  <a:pt x="8065640" y="4371321"/>
                </a:lnTo>
                <a:lnTo>
                  <a:pt x="8044475" y="4411597"/>
                </a:lnTo>
                <a:lnTo>
                  <a:pt x="8020388" y="4450864"/>
                </a:lnTo>
                <a:lnTo>
                  <a:pt x="7993468" y="4488810"/>
                </a:lnTo>
                <a:lnTo>
                  <a:pt x="7963714" y="4525287"/>
                </a:lnTo>
                <a:lnTo>
                  <a:pt x="7931126" y="4560149"/>
                </a:lnTo>
                <a:lnTo>
                  <a:pt x="4560144" y="7931131"/>
                </a:lnTo>
                <a:lnTo>
                  <a:pt x="4522030" y="7966540"/>
                </a:lnTo>
                <a:lnTo>
                  <a:pt x="4482008" y="7998578"/>
                </a:lnTo>
                <a:lnTo>
                  <a:pt x="4440270" y="8027243"/>
                </a:lnTo>
                <a:lnTo>
                  <a:pt x="4397008" y="8052536"/>
                </a:lnTo>
                <a:lnTo>
                  <a:pt x="4352412" y="8074456"/>
                </a:lnTo>
                <a:lnTo>
                  <a:pt x="4306675" y="8093004"/>
                </a:lnTo>
                <a:lnTo>
                  <a:pt x="4259988" y="8108180"/>
                </a:lnTo>
                <a:lnTo>
                  <a:pt x="4212543" y="8119983"/>
                </a:lnTo>
                <a:lnTo>
                  <a:pt x="4164531" y="8128414"/>
                </a:lnTo>
                <a:lnTo>
                  <a:pt x="4116144" y="8133473"/>
                </a:lnTo>
                <a:lnTo>
                  <a:pt x="4067574" y="8135159"/>
                </a:lnTo>
                <a:close/>
              </a:path>
            </a:pathLst>
          </a:custGeom>
          <a:solidFill>
            <a:srgbClr val="0D8287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FE91A2-A4B5-A8D2-511D-2EF26DE08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CFEFB"/>
              </a:clrFrom>
              <a:clrTo>
                <a:srgbClr val="FCFE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90" y="2999749"/>
            <a:ext cx="1375179" cy="141290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54A3409-B088-67BA-B83C-D80DF244116C}"/>
              </a:ext>
            </a:extLst>
          </p:cNvPr>
          <p:cNvSpPr txBox="1"/>
          <p:nvPr/>
        </p:nvSpPr>
        <p:spPr>
          <a:xfrm>
            <a:off x="8864082" y="3265714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OPUS {{DATA}}</a:t>
            </a:r>
          </a:p>
        </p:txBody>
      </p:sp>
    </p:spTree>
    <p:extLst>
      <p:ext uri="{BB962C8B-B14F-4D97-AF65-F5344CB8AC3E}">
        <p14:creationId xmlns:p14="http://schemas.microsoft.com/office/powerpoint/2010/main" val="296191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7730" y="1861373"/>
            <a:ext cx="9144000" cy="1655762"/>
          </a:xfrm>
        </p:spPr>
        <p:txBody>
          <a:bodyPr>
            <a:normAutofit/>
          </a:bodyPr>
          <a:lstStyle/>
          <a:p>
            <a:r>
              <a:rPr lang="pt-BR" sz="9600" dirty="0"/>
              <a:t>{{RM}}</a:t>
            </a:r>
            <a:endParaRPr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AF54FE27-0A5D-3DBF-0459-4B01E84BE049}"/>
              </a:ext>
            </a:extLst>
          </p:cNvPr>
          <p:cNvSpPr/>
          <p:nvPr/>
        </p:nvSpPr>
        <p:spPr>
          <a:xfrm>
            <a:off x="0" y="0"/>
            <a:ext cx="12198671" cy="946144"/>
          </a:xfrm>
          <a:prstGeom prst="rect">
            <a:avLst/>
          </a:prstGeom>
          <a:gradFill flip="none" rotWithShape="1">
            <a:gsLst>
              <a:gs pos="80000">
                <a:srgbClr val="8799B4"/>
              </a:gs>
              <a:gs pos="0">
                <a:schemeClr val="accent5">
                  <a:lumMod val="5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b="1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{{TITULO}}</a:t>
            </a:r>
            <a:endParaRPr lang="de-DE" sz="3200" b="1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DAA0257-B402-752E-5DC0-EA567BCA7B90}"/>
              </a:ext>
            </a:extLst>
          </p:cNvPr>
          <p:cNvSpPr/>
          <p:nvPr/>
        </p:nvSpPr>
        <p:spPr>
          <a:xfrm>
            <a:off x="588867" y="951429"/>
            <a:ext cx="522514" cy="102637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A16C78A9-8F8D-63FC-C9C0-1625B845CCAA}"/>
              </a:ext>
            </a:extLst>
          </p:cNvPr>
          <p:cNvGraphicFramePr>
            <a:graphicFrameLocks noGrp="1"/>
          </p:cNvGraphicFramePr>
          <p:nvPr/>
        </p:nvGraphicFramePr>
        <p:xfrm>
          <a:off x="194245" y="3039774"/>
          <a:ext cx="11810687" cy="159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120">
                  <a:extLst>
                    <a:ext uri="{9D8B030D-6E8A-4147-A177-3AD203B41FA5}">
                      <a16:colId xmlns:a16="http://schemas.microsoft.com/office/drawing/2014/main" val="2010676266"/>
                    </a:ext>
                  </a:extLst>
                </a:gridCol>
                <a:gridCol w="1766231">
                  <a:extLst>
                    <a:ext uri="{9D8B030D-6E8A-4147-A177-3AD203B41FA5}">
                      <a16:colId xmlns:a16="http://schemas.microsoft.com/office/drawing/2014/main" val="4227991276"/>
                    </a:ext>
                  </a:extLst>
                </a:gridCol>
                <a:gridCol w="1659883">
                  <a:extLst>
                    <a:ext uri="{9D8B030D-6E8A-4147-A177-3AD203B41FA5}">
                      <a16:colId xmlns:a16="http://schemas.microsoft.com/office/drawing/2014/main" val="3032393445"/>
                    </a:ext>
                  </a:extLst>
                </a:gridCol>
                <a:gridCol w="1351586">
                  <a:extLst>
                    <a:ext uri="{9D8B030D-6E8A-4147-A177-3AD203B41FA5}">
                      <a16:colId xmlns:a16="http://schemas.microsoft.com/office/drawing/2014/main" val="1880742897"/>
                    </a:ext>
                  </a:extLst>
                </a:gridCol>
                <a:gridCol w="1589163">
                  <a:extLst>
                    <a:ext uri="{9D8B030D-6E8A-4147-A177-3AD203B41FA5}">
                      <a16:colId xmlns:a16="http://schemas.microsoft.com/office/drawing/2014/main" val="651897665"/>
                    </a:ext>
                  </a:extLst>
                </a:gridCol>
                <a:gridCol w="1352359">
                  <a:extLst>
                    <a:ext uri="{9D8B030D-6E8A-4147-A177-3AD203B41FA5}">
                      <a16:colId xmlns:a16="http://schemas.microsoft.com/office/drawing/2014/main" val="1331739621"/>
                    </a:ext>
                  </a:extLst>
                </a:gridCol>
                <a:gridCol w="19766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712">
                  <a:extLst>
                    <a:ext uri="{9D8B030D-6E8A-4147-A177-3AD203B41FA5}">
                      <a16:colId xmlns:a16="http://schemas.microsoft.com/office/drawing/2014/main" val="3712930009"/>
                    </a:ext>
                  </a:extLst>
                </a:gridCol>
              </a:tblGrid>
              <a:tr h="3471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INÍCIO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EMPRESA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AO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EMPENHO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EXECUTADO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MEDIÇÃO MENSAL</a:t>
                      </a:r>
                      <a:endParaRPr lang="pt-BR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ENTREGA</a:t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77364"/>
                  </a:ext>
                </a:extLst>
              </a:tr>
              <a:tr h="321451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{{INICIO}}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{{EMPRESA}}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{{VALOR}}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{{AO}}</a:t>
                      </a:r>
                      <a:r>
                        <a:rPr dirty="0" err="1"/>
                        <a:t/>
                      </a:r>
                      <a:r>
                        <a:rPr dirty="0"/>
                        <a:t/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{{EMPENHO}}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{{EXEC}}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{{MEDMENSAL}}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{{ENTREGA}}</a:t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785484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F800BA15-AE81-7C17-34A8-01885FE78D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7769" y="40289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7">
            <a:extLst>
              <a:ext uri="{FF2B5EF4-FFF2-40B4-BE49-F238E27FC236}">
                <a16:creationId xmlns:a16="http://schemas.microsoft.com/office/drawing/2014/main" id="{ED76B776-F5E3-F05D-4934-A8CE9544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73865" y="166035"/>
            <a:ext cx="593512" cy="67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B342174-FC67-31F5-A48B-9EB005585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035" y="154723"/>
            <a:ext cx="567978" cy="683499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7898E200-A067-9B43-2EEF-942E42F631B0}"/>
              </a:ext>
            </a:extLst>
          </p:cNvPr>
          <p:cNvGraphicFramePr>
            <a:graphicFrameLocks noGrp="1"/>
          </p:cNvGraphicFramePr>
          <p:nvPr/>
        </p:nvGraphicFramePr>
        <p:xfrm>
          <a:off x="194245" y="965816"/>
          <a:ext cx="11810687" cy="196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0687">
                  <a:extLst>
                    <a:ext uri="{9D8B030D-6E8A-4147-A177-3AD203B41FA5}">
                      <a16:colId xmlns:a16="http://schemas.microsoft.com/office/drawing/2014/main" val="2010676266"/>
                    </a:ext>
                  </a:extLst>
                </a:gridCol>
              </a:tblGrid>
              <a:tr h="226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baseline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Nr OPUS: {{OPUS}}</a:t>
                      </a:r>
                      <a:r>
                        <a:rPr lang="pt-BR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77364"/>
                  </a:ext>
                </a:extLst>
              </a:tr>
              <a:tr h="321451">
                <a:tc>
                  <a:txBody>
                    <a:bodyPr/>
                    <a:lstStyle/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Concepção do Objeto: {{CONCEP}}</a:t>
                      </a: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Fundações: {{FUND}}</a:t>
                      </a: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Estrutura: {{ESTR}}</a:t>
                      </a: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Cobertura: {{COB}}</a:t>
                      </a: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Paredes Internas: {{PAR}}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Terraplenagem e Pavimentação: {{TERRA}}</a:t>
                      </a:r>
                      <a:r>
                        <a:rPr lang="pt-BR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/>
                      </a: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C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78548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737253" y="4717077"/>
          <a:ext cx="7267679" cy="1968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9955">
                <a:tc>
                  <a:txBody>
                    <a:bodyPr/>
                    <a:lstStyle/>
                    <a:p>
                      <a:pPr algn="ctr"/>
                      <a:r>
                        <a:rPr b="1" dirty="0">
                          <a:solidFill>
                            <a:srgbClr val="FFFFFF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dirty="0">
                          <a:solidFill>
                            <a:srgbClr val="FFFFFF"/>
                          </a:solidFill>
                        </a:rPr>
                        <a:t>IDP</a:t>
                      </a:r>
                    </a:p>
                  </a:txBody>
                  <a:tcPr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FFFF"/>
                          </a:solidFill>
                        </a:rPr>
                        <a:t>OBSERVAÇÕES/PROBLEMAS</a:t>
                      </a:r>
                      <a:r>
                        <a:rPr b="1" dirty="0">
                          <a:solidFill>
                            <a:srgbClr val="FFFFFF"/>
                          </a:solidFill>
                        </a:rPr>
                        <a:t> TÉCNICOS-ORÇAMENTÁRIOS</a:t>
                      </a:r>
                    </a:p>
                  </a:txBody>
                  <a:tcPr>
                    <a:solidFill>
                      <a:srgbClr val="1F5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956">
                <a:tc>
                  <a:txBody>
                    <a:bodyPr/>
                    <a:lstStyle/>
                    <a:p>
                      <a:pPr algn="ctr"/>
                      <a:r>
                        <a:t>{{PA}}</a:t>
                      </a:r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/>
                      </a:r>
                    </a:p>
                    <a:p>
                      <a:pPr algn="ctr"/>
                      <a:endParaRPr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{{IDP}}</a:t>
                      </a:r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{{OBS}}</a:t>
                      </a:r>
                    </a:p>
                    <a:p>
                      <a:pPr algn="just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pt-BR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pt-BR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/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rcRect l="7404" t="8597" r="7025" b="19976"/>
          <a:stretch>
            <a:fillRect/>
          </a:stretch>
        </p:blipFill>
        <p:spPr>
          <a:xfrm>
            <a:off x="1222286" y="4510703"/>
            <a:ext cx="3019208" cy="2241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41434</TotalTime>
  <Words>10560</Words>
  <Application>Microsoft Office PowerPoint</Application>
  <PresentationFormat>Widescreen</PresentationFormat>
  <Paragraphs>2511</Paragraphs>
  <Slides>86</Slides>
  <Notes>86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86</vt:i4>
      </vt:variant>
    </vt:vector>
  </HeadingPairs>
  <TitlesOfParts>
    <vt:vector size="92" baseType="lpstr">
      <vt:lpstr>Arial</vt:lpstr>
      <vt:lpstr>Arial Black</vt:lpstr>
      <vt:lpstr>Arial Narrow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2ª RM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3ª RM</vt:lpstr>
      <vt:lpstr>Apresentação do PowerPoint</vt:lpstr>
      <vt:lpstr>Apresentação do PowerPoint</vt:lpstr>
      <vt:lpstr>6ª RM</vt:lpstr>
      <vt:lpstr>Apresentação do PowerPoint</vt:lpstr>
      <vt:lpstr>Apresentação do PowerPoint</vt:lpstr>
      <vt:lpstr>Apresentação do PowerPoint</vt:lpstr>
      <vt:lpstr>Apresentação do PowerPoint</vt:lpstr>
      <vt:lpstr>7ª RM</vt:lpstr>
      <vt:lpstr>Apresentação do PowerPoint</vt:lpstr>
      <vt:lpstr>Apresentação do PowerPoint</vt:lpstr>
      <vt:lpstr>8ª RM</vt:lpstr>
      <vt:lpstr>Apresentação do PowerPoint</vt:lpstr>
      <vt:lpstr>Apresentação do PowerPoint</vt:lpstr>
      <vt:lpstr>Apresentação do PowerPoint</vt:lpstr>
      <vt:lpstr>Apresentação do PowerPoint</vt:lpstr>
      <vt:lpstr>9ª RM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10ª RM</vt:lpstr>
      <vt:lpstr>Apresentação do PowerPoint</vt:lpstr>
      <vt:lpstr>11ª RM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12ª RM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José Flores</dc:creator>
  <cp:lastModifiedBy>Paulo Sérgio Ortiz Rosa</cp:lastModifiedBy>
  <cp:revision>1695</cp:revision>
  <cp:lastPrinted>2023-08-24T15:51:16Z</cp:lastPrinted>
  <dcterms:created xsi:type="dcterms:W3CDTF">2020-10-02T10:46:48Z</dcterms:created>
  <dcterms:modified xsi:type="dcterms:W3CDTF">2026-06-16T13:02:31Z</dcterms:modified>
</cp:coreProperties>
</file>